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4208"/>
          </a:xfrm>
          <a:prstGeom prst="rect">
            <a:avLst/>
          </a:prstGeom>
          <a:solidFill>
            <a:srgbClr val="243554"/>
          </a:solidFill>
          <a:ln w="12700">
            <a:solidFill>
              <a:srgbClr val="24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56432"/>
            <a:ext cx="9144000" cy="73152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A027"/>
                </a:solidFill>
              </a:rPr>
              <a:t>Week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Controlling for Confounders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DF3DC"/>
                </a:solidFill>
              </a:rPr>
              <a:t>The Frisch-Waugh-Lovell Theorem &amp; Double ML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120 min  ·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Theory → Geometry → Failure modes → DML preview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</a:rPr>
              <a:t>Causal Inference · MSc · Week 11 of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Lecture roadmap — 120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orientation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Where are we going today, and why should each of you care?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057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205740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~35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The theorem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1792224"/>
            <a:ext cx="201168" cy="20116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1737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What does 'controlling for X' mean?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505456"/>
            <a:ext cx="201168" cy="20116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45059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FWL statement + proof sketch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218688"/>
            <a:ext cx="201168" cy="20116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16382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Worked numerical walkthrough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4600" y="1188720"/>
            <a:ext cx="2057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14600" y="1188720"/>
            <a:ext cx="205740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188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 · ~25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Geometry &amp; limits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33472" y="179222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98648" y="1737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Visual intuition: partialling 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33472" y="250545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245059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When OLS FWL is wrong (colliders)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33472" y="321868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98648" y="316382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When OLS FWL breaks (high-D)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188720"/>
            <a:ext cx="2057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188720"/>
            <a:ext cx="2057400" cy="475488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188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3 · ~30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Double ML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28032" y="1792224"/>
            <a:ext cx="201168" cy="201168"/>
          </a:xfrm>
          <a:prstGeom prst="ellipse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1737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Replace OLS with ML in Steps 1&amp;2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28032" y="2505456"/>
            <a:ext cx="201168" cy="201168"/>
          </a:xfrm>
          <a:prstGeom prst="ellipse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93208" y="245059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Why naive swap fails (regularization)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28032" y="3218688"/>
            <a:ext cx="201168" cy="201168"/>
          </a:xfrm>
          <a:prstGeom prst="ellipse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93208" y="316382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Cross-fitting: hiding data from yourself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03720" y="1188720"/>
            <a:ext cx="20574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03720" y="1188720"/>
            <a:ext cx="20574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95160" y="1188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4 · ~10 min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95160" y="1444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Neyman orthogonality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22592" y="1792224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87768" y="17373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Why the 'double' kills the bias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22592" y="2505456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7768" y="245059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Comparison table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22592" y="321868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87768" y="316382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Bridge to Week 12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4663440"/>
            <a:ext cx="2651760" cy="365760"/>
          </a:xfrm>
          <a:prstGeom prst="rect">
            <a:avLst/>
          </a:prstGeom>
          <a:solidFill>
            <a:srgbClr val="E9ECF0"/>
          </a:solidFill>
          <a:ln w="12700">
            <a:solidFill>
              <a:srgbClr val="E9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Social scientists: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Focus on what 'controlling for' means — §1–4, §6–7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72968" y="4663440"/>
            <a:ext cx="2651760" cy="365760"/>
          </a:xfrm>
          <a:prstGeom prst="rect">
            <a:avLst/>
          </a:prstGeom>
          <a:solidFill>
            <a:srgbClr val="E9ECF0"/>
          </a:solidFill>
          <a:ln w="12700">
            <a:solidFill>
              <a:srgbClr val="E9E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CS / ML engineers: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Algorithm + failure modes — §5–9 are your payoff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25896" y="4663440"/>
            <a:ext cx="2651760" cy="365760"/>
          </a:xfrm>
          <a:prstGeom prst="rect">
            <a:avLst/>
          </a:prstGeom>
          <a:solidFill>
            <a:srgbClr val="E9ECF0"/>
          </a:solidFill>
          <a:ln w="12700">
            <a:solidFill>
              <a:srgbClr val="E9E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44768" y="4663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Econ / management: </a:t>
            </a:r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Validity conditions + when estimates are trustworthy — §4, §7, §10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5102352"/>
            <a:ext cx="8503920" cy="54864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5157216"/>
            <a:ext cx="8503920" cy="77724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15721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📋 Teaching note: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Spend 2 min here. Point out to each audience where their 'aha' moment will come. It reduces anxiety and sets the pace.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243554"/>
                </a:solidFill>
              </a:rPr>
              <a:t>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64008" cy="1280160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965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Theorem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A027"/>
                </a:solidFill>
              </a:rPr>
              <a:t>What does 'controlling for X' actually do to your coefficient?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 with a number that feels wrong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motivation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You run a regression of sales on ad spend. You get β̂ = 3.2.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114300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£1,000 more in ad spend → £3,200 more in sales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</a:rPr>
              <a:t>Sounds great. Is this the causal effect of advertising?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The problem: better products get more ad spend AND sell more.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2971800"/>
            <a:ext cx="1645920" cy="47548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971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Product quality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931920"/>
            <a:ext cx="1645920" cy="4754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31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 spend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931920"/>
            <a:ext cx="1645920" cy="4754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931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3447288"/>
            <a:ext cx="-1463040" cy="5029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3447288"/>
            <a:ext cx="1463040" cy="5029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4169664"/>
            <a:ext cx="402336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3931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β = 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51960" y="35478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392B"/>
                </a:solidFill>
              </a:rPr>
              <a:t>confounds both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8503920" cy="54864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672584"/>
            <a:ext cx="8503920" cy="77724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7258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📋 Teaching note: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KEEP. The 'wrong number' hook is essential for all three audiences. The naive β = 3.2 is the villain. FWL is the detective. Don't skip the motivation.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model: what we're trying to estimate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setup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71323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  =  α  +  β Ti  +  γ′Xi  +  εi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Outcome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1907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Monthly sales revenue (£000s)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311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Treatment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Digital ad spend (£000s)  ← effect we want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62656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X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Controls / confounders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21868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Product quality score (1–10)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712464"/>
            <a:ext cx="502920" cy="502920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12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730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Causal effect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96849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£ sales per extra £1k ad spend, holding quality fixed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E0F4F4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72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Goal: estimate β. The problem: T and X are correlated — we can't just read off the naïve coefficient.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Frisch-Waugh-Lovell theorem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theorem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Theorem (FWL, 1933–1963):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The OLS coefficient β̂ on T in the full regression is numerically identical to the coefficient from this three-step procedure: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85039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384048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08760"/>
            <a:ext cx="3840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7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04672" y="15636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Partial T out of 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5453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T̃  =  T − X(X′X)⁻¹X′T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196596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</a:rPr>
              <a:t>Residuals from regressing T on X   →   variation in T unexplained by 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85039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14600"/>
            <a:ext cx="384048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14600"/>
            <a:ext cx="3840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7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4672" y="25694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Partial Y out of 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5511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Ỹ  =  Y − X(X′X)⁻¹X′Y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297180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</a:rPr>
              <a:t>Residuals from regressing Y on X   →   variation in Y unexplained by 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20440"/>
            <a:ext cx="850392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520440"/>
            <a:ext cx="384048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20440"/>
            <a:ext cx="38404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7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4672" y="35753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Regress Ỹ on T̃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35570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β̂  =  (T̃′T̃)⁻¹ T̃′Ỹ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39776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</a:rPr>
              <a:t>Simple OLS, no intercept needed   →   β̂ is exactly the same as the full regression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590288"/>
            <a:ext cx="8503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645152"/>
            <a:ext cx="8503920" cy="77724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4515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⚠️ Caveat: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Steps 1 and 2 can be done in either order. The result is the same. But you MUST residualise both Y and T — residualising only T gives a different estimator.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FWL in action: ad spend → sales, controlling for quality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worked example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n = 5 firms. We want β = effect of ad spend on sales, controlling for product quality.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503920" cy="22860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371600"/>
                <a:gridCol w="1280160"/>
                <a:gridCol w="1737360"/>
                <a:gridCol w="173736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Firm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Sales 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Ad spend 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Quality 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Ỹ  (Y resid)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T̃  (T resid)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−0.9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−0.7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−0.3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−0.3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1.1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0.5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−2.5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−0.9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2.6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1.4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429000"/>
            <a:ext cx="269748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34290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 OLS (Y on T and X)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8912" y="3721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β̂ = 1.50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72968" y="3429000"/>
            <a:ext cx="269748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34290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Step 1–2: residuals Ỹ, T̃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91840" y="3721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via OLS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25896" y="3429000"/>
            <a:ext cx="2697480" cy="566928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34290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Step 3: Ỹ on T̃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44768" y="3721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β̂ = 1.50 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41148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Interpretation: £1k more ad spend (after removing quality's influence) → £1.5k more sales. We have surgically removed confounding.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4599432"/>
            <a:ext cx="8503920" cy="54864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" y="4654296"/>
            <a:ext cx="8503920" cy="77724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65429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📋 Teaching note: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DEFINITELY KEEP. Work through this live in Python — three regressions. Show that β̂ is identical. Then ask: 'what happens if we forget to residualise T?' The class will answer it's wrong. That's your bridge to §7.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243554"/>
                </a:solidFill>
              </a:rPr>
              <a:t>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64008" cy="1280160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965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Geometry &amp; Limits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A027"/>
                </a:solidFill>
              </a:rPr>
              <a:t>What FWL is really doing in vector space — and where it goes wrong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Geometric intuition: partialling out as projection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geometry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Think of Y, T, X as vectors in ℝⁿ. Regression = projection.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051560"/>
            <a:ext cx="3840480" cy="2194560"/>
          </a:xfrm>
          <a:prstGeom prst="rect">
            <a:avLst/>
          </a:prstGeom>
          <a:solidFill>
            <a:srgbClr val="0D7377">
              <a:alpha val="18000"/>
            </a:srgbClr>
          </a:solidFill>
          <a:ln w="6350">
            <a:solidFill>
              <a:srgbClr val="0D737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51560" y="1078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7377"/>
                </a:solidFill>
              </a:rPr>
              <a:t>col(X)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D7377"/>
                </a:solidFill>
              </a:rPr>
              <a:t>(space spanned by controls)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3063240"/>
            <a:ext cx="1280160" cy="-1508760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417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3063240"/>
            <a:ext cx="0" cy="-109728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T̃ ⊥ col(X)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3063240"/>
            <a:ext cx="1280160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651760" y="2999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T̂ = X(X′X)⁻¹X′T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63040" y="2724912"/>
            <a:ext cx="137160" cy="137160"/>
          </a:xfrm>
          <a:prstGeom prst="rect">
            <a:avLst/>
          </a:prstGeom>
          <a:solidFill>
            <a:srgbClr val="E9ECF0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3063240"/>
            <a:ext cx="2651760" cy="-1280160"/>
          </a:xfrm>
          <a:prstGeom prst="line">
            <a:avLst/>
          </a:prstGeom>
          <a:noFill/>
          <a:ln w="31750">
            <a:solidFill>
              <a:srgbClr val="E8A0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7"/>
                </a:solidFill>
              </a:rPr>
              <a:t>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463040" y="3063240"/>
            <a:ext cx="0" cy="-7772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5303520" y="1051560"/>
            <a:ext cx="35204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1051560"/>
            <a:ext cx="64008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1078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col(X):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8112" y="1371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space that X can 'explain'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1965960"/>
            <a:ext cx="35204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1965960"/>
            <a:ext cx="64008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1993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 (and Y):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68112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Raw vectors — partly inside col(X), partly outside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2880360"/>
            <a:ext cx="35204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0" y="2880360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8112" y="2907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T̃ (and Ỹ):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68112" y="3200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part orthogonal to col(X) — what X cannot explain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3794760"/>
            <a:ext cx="35204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03520" y="3794760"/>
            <a:ext cx="64008" cy="804672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68112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FWL insight: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68112" y="41148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β̂ = how much Ỹ moves per unit T̃ — both already orthogonal to 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7377"/>
                </a:solidFill>
              </a:rPr>
              <a:t>In plain English: 'controlling for X' means working in the space orthogonal to X. FWL proves this is exactly what OLS does.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Every OLS regression is already a partialling-out estimator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implication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This is not just a clever trick — it reframes the entire logic of regression.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41148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1704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When you add a control, you're running FWL implicitly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9961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Every coefficient in a multivariate OLS is 'the FWL coefficient' — the effect of T after removing what X can linearly explain from both T and 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11680"/>
            <a:ext cx="41148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11680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0665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The coefficient changes when you add controls because T̃ changes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3957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Adding more controls changes what variation in T is 'left over'. If that leftover variation is correlated with Y, β̂ shifts. If it's not, β̂ stays stable.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07792"/>
            <a:ext cx="411480" cy="804672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07792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9626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Omitted variable bias = the FWL residual T̃ is still correlated with the omitted confounder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If there's a confounder Z not in X, then T̃ still contains Z's influence. β̂ conflates the T effect with the Z effect — classic OVB.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411480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03904"/>
            <a:ext cx="411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8587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The partialling assumes linearity — OLS can only remove the linear influence of 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18795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If quality has a non-linear effect on both T and Y (e.g. diminishing returns), linear residuals T̃ and Ỹ still contain confounding. This is the opening to DML.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709160"/>
            <a:ext cx="8503920" cy="54864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764024"/>
            <a:ext cx="8503920" cy="77724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6402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📋 Teaching note: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KEEP. The 4th bullet (non-linearity) is the cliffhanger that motivates DML. Emphasise it verbally: 'We've been assuming quality's effect is linear. What if it's not?'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FWL tells you how to partial out — not what to partial out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validity / DAGs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This is a DAG question, not a statistics question. Adding the wrong variable destroys your estimate.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187952" cy="3493008"/>
          </a:xfrm>
          <a:prstGeom prst="rect">
            <a:avLst/>
          </a:prstGeom>
          <a:solidFill>
            <a:srgbClr val="E0F4F4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187952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CONTROL FOR THIS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Confounder 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Causes both T and 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If omitted: T̃ is correlated with C's effect on Y → OVB.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87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→ T   and   C → 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Example: product quality causes both more ad spend and more sales. Must control.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24128"/>
            <a:ext cx="4187952" cy="349300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24128"/>
            <a:ext cx="4187952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241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DO NOT CONTROL FOR THIS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Collider 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18470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Caused by both T and 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If included: conditioning on L opens a spurious T–Y path.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487168"/>
            <a:ext cx="3840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487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→ L ← 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2926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Example: website visits are caused by both ad spend and sales intent. Controlling for visits creates fake correlation.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Rule: draw your DAG first. Identify the minimum adjustment set. Then run FWL on that set only.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5029200"/>
            <a:ext cx="8503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5084064"/>
            <a:ext cx="8503920" cy="77724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8406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⚠️ Can compress: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If DAGs and colliders were covered in a prior week, this is a 3-min recap. If not, spend 10 min here — collider bias is the #1 applied mistake.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When OLS FWL breaks: the high-dimensional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failure modes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FWL with OLS is exact — but only if the partialling-out is done correctly. Three ways it fails: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109728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2471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 &gt; n  (more controls than observations)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4081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(X′X) is not invertible. OLS cannot be computed at all.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40817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</a:rPr>
              <a:t>→ Need regularisation (lasso, ridge) — but these introduce shrinkage bias.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8503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65960"/>
            <a:ext cx="109728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116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 close to n  (overfit nuisance regressions)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2951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OLS fits noise in X → T̃ and Ỹ are noisy, near-zero residuals → β̂ is unreliable.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22951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</a:rPr>
              <a:t>→ OLS has too many degrees of freedom in Steps 1 &amp; 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8503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109728" cy="786384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8986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Non-linear confounders  (mis-specified partialling)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1821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If quality has a U-shaped effect on T but we partial out linearly, T̃ still contains the non-linear part of quality.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18211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A027"/>
                </a:solidFill>
              </a:rPr>
              <a:t>→ Need flexible ML to approximate E[T | X] and E[Y | X] without imposing linearity.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39896"/>
            <a:ext cx="85039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39896"/>
            <a:ext cx="109728" cy="786384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785616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Many correlated controls  (multicollinearity)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40690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T̃ has tiny variance → huge standard errors on β̂, even if the estimate is directionally right.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4069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A027"/>
                </a:solidFill>
              </a:rPr>
              <a:t>→ Regularisation + flexible ML both help here.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626864"/>
            <a:ext cx="8503920" cy="54864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681728"/>
            <a:ext cx="8503920" cy="77724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81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📋 Teaching note: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KEEP — but the teaching goal is just to plant the problem. You don't need to solve it here. End with: 'OLS FWL is beautiful and exact — but only in low dimensions with linear relationships. What do we do when that fails?'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243554"/>
                </a:solidFill>
              </a:rPr>
              <a:t>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64008" cy="1280160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965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Double Machine Learning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A027"/>
                </a:solidFill>
              </a:rPr>
              <a:t>FWL + ML + cross-fitting = √n-consistent causal estimates in high dimensions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Double ML: replace OLS with ML in Steps 1 &amp;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DML core idea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Chernozhukov et al. (2018). The insight is almost embarrassingly simple: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FWL says: partial out X from both Y and T, then regress residuals. It does NOT say use OLS to do the partialling.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91640"/>
            <a:ext cx="475488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91640"/>
            <a:ext cx="475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17465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Fit ĝ(X) = E[Y | X] using any ML method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6968" y="2075688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Lasso, random forest, gradient boosting, neural net — anything that flexibly approximates the outcome surface.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Outcome residual: Ỹ = Y − ĝ(X)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679192"/>
            <a:ext cx="475488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79192"/>
            <a:ext cx="475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" y="27340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Fit m̂(X) = E[T | X] using any ML method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306324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propensity/treatment surface. Can be the same or different learner.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Treatment residual: T̃ = T − m̂(X)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666744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66744"/>
            <a:ext cx="475488" cy="868680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666744"/>
            <a:ext cx="475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6968" y="3721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OLS of Ỹ on T̃  (no controls — they're already partialled out)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6968" y="4050792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θ̂ = (T̃′T̃)⁻¹ T̃′Ỹ.  This is pure FWL — but now ML did the heavy lifting in Step 1.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709160"/>
            <a:ext cx="8503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764024"/>
            <a:ext cx="8503920" cy="77724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6402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⚠️ BUT: naively swapping ML into Steps 1a/1b gives biased estimates. Why? ML regularises — it shrinks predictions, so residuals are too large. And ML uses the same data to fit and predict, causing overfitting contamination. DML fixes both. Next two slides explain how. </a:t>
            </a:r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Cross-fitting: why you need to hide the data from yourself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cross-fitting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The problem: ML models memorise training data. If you predict on the same data you trained on, your residuals are too small — they don't capture the true signal.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Round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1188720"/>
            <a:ext cx="329184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188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 ML on Fold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188720"/>
            <a:ext cx="3291840" cy="411480"/>
          </a:xfrm>
          <a:prstGeom prst="rect">
            <a:avLst/>
          </a:prstGeom>
          <a:solidFill>
            <a:srgbClr val="E9EC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Predict residuals on Fold 2 →  T̃₂, Ỹ₂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737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Round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17320" y="1691640"/>
            <a:ext cx="3291840" cy="411480"/>
          </a:xfrm>
          <a:prstGeom prst="rect">
            <a:avLst/>
          </a:prstGeom>
          <a:solidFill>
            <a:srgbClr val="E9EC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691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Train ML on Fold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1691640"/>
            <a:ext cx="329184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691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 residuals on Fold 1 →  T̃₁, Ỹ₁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212848"/>
            <a:ext cx="8503920" cy="0"/>
          </a:xfrm>
          <a:prstGeom prst="line">
            <a:avLst/>
          </a:prstGeom>
          <a:noFill/>
          <a:ln w="6350">
            <a:solidFill>
              <a:srgbClr val="E9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2304288"/>
            <a:ext cx="5577840" cy="475488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304288"/>
            <a:ext cx="5577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Stack all residuals: {T̃₁, Ỹ₁, T̃₂, Ỹ₂} → single OLS → θ̂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44368"/>
            <a:ext cx="26974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this works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337560"/>
            <a:ext cx="254203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Each fold's residuals were generated by a model that never saw that fold. No overfitting contamination. The residuals are 'honest'.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72968" y="2944368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2944368"/>
            <a:ext cx="2697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K=5 is standard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64408" y="3337560"/>
            <a:ext cx="254203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5 folds gives enough training data per round (80%) while keeping computation manageable. The results are averaged over K rounds for stability.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25896" y="2944368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25896" y="2944368"/>
            <a:ext cx="2697480" cy="347472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Analogy for CS students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17336" y="3337560"/>
            <a:ext cx="254203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It's exactly K-fold cross-validation — but instead of evaluating prediction accuracy, you're generating honest residuals for the causal OLS.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626864"/>
            <a:ext cx="8503920" cy="54864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681728"/>
            <a:ext cx="8503920" cy="777240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817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📋 Teaching note: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KEEP. This is the most confusing part for students. The analogy 'you're hiding the data from yourself' lands well. Draw the two rounds on the board. K=2 here for clarity; mention K=5 in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243554"/>
                </a:solidFill>
              </a:rPr>
              <a:t>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64008" cy="1280160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965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Neyman Orthogonality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8A027"/>
                </a:solidFill>
              </a:rPr>
              <a:t>Why the 'double' makes the causal estimate robust to ML errors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Neyman orthogonality: why DML is robust to imperfect ML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Neyman orthogonality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This is the deepest idea in DML — and the one most often skipped over. Here's the intuition without the measure theory.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7"/>
                </a:solidFill>
              </a:rPr>
              <a:t>The 'double' in Double ML: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Errors in ĝ(X) and m̂(X) enter the causal estimate multiplicatively — as a product. If both ML errors are small (say, size δ), their product is δ², which is negligible.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121408"/>
            <a:ext cx="8503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21408"/>
            <a:ext cx="64008" cy="8412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67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Analogy: two imperfect measurements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If your ruler is off by 1mm and your scale is off by 1g, the error in your combined measurement is tiny — 1mm × 1g ≈ 0. The two errors don't add, they multiply. DML exploits the same structure.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81528"/>
            <a:ext cx="8503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81528"/>
            <a:ext cx="64008" cy="841248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Why 'only T' wouldn't 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4655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If you only residualised T but used raw Y, errors in m̂(X) enter the estimate linearly — size δ, not δ². The estimate is biased at the ML convergence rate, which is too slow for √n inference.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041648"/>
            <a:ext cx="85039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4041648"/>
            <a:ext cx="64008" cy="8412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87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What 'orthogonality' means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42569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score function's derivative with respect to the nuisance functions (ĝ, m̂) is zero at the truth. Small perturbations in the ML models produce zero first-order effect on θ̂. This is Neyman orthogonality.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5074920"/>
            <a:ext cx="8503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5129784"/>
            <a:ext cx="8503920" cy="77724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12978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⚠️ Depth call: for a methods-heavy MSc, show the score equation ψ = (Y − θD − g(X))·D̃ and explain why ∂ψ/∂g = 0. For mixed audiences, the analogy above is sufficient. Don't skip the slide — just calibrate depth. </a:t>
            </a:r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When to use what: summary comparison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recap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Four estimators. One question: do you get a valid causal estimate?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503920" cy="333756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371600"/>
                <a:gridCol w="1645920"/>
                <a:gridCol w="1828800"/>
              </a:tblGrid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Estimator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Handles non-linearity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Valid in high-D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Valid standard errors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When to use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Naïve OLS (no controls)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✗ biased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C0392B"/>
                          </a:solidFill>
                        </a:rPr>
                        <a:t>Never for causal claims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OLS + linear controls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A027"/>
                          </a:solidFill>
                        </a:rPr>
                        <a:t>Only if truly linear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8A027"/>
                          </a:solidFill>
                        </a:rPr>
                        <a:t>Low-D, linear DGP only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OLS + FWL (manual)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</a:rPr>
                        <a:t>✓ exact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D7377"/>
                          </a:solidFill>
                        </a:rPr>
                        <a:t>Confirms OLS does partialling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Double ML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377"/>
                          </a:solidFill>
                        </a:rPr>
                        <a:t>✓ √n-consistent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1B2A4A"/>
                          </a:solidFill>
                        </a:rPr>
                        <a:t>High-D, non-linear, real data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62272"/>
            <a:ext cx="8503920" cy="475488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4622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Key insight: OLS + FWL is not inferior to DML in low dimensions — it's exact. DML is needed when OLS's linear partialling assumption breaks. Use FWL to build intuition; use DML in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we covered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7472" cy="347472"/>
          </a:xfrm>
          <a:prstGeom prst="ellipse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98755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FWL theorem: every OLS coefficient is a partialling-out estimator — exactly.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47472" cy="347472"/>
          </a:xfrm>
          <a:prstGeom prst="ellipse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64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Geometric meaning: 'controlling for X' = working in the space orthogonal to X.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347472" cy="347472"/>
          </a:xfrm>
          <a:prstGeom prst="ellipse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22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30428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Limits: collider bias (wrong X), non-linearity, high dimensions all break OLS FWL.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347472" cy="347472"/>
          </a:xfrm>
          <a:prstGeom prst="ellipse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80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96265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Double ML: replace OLS with ML in Steps 1 &amp; 2, fix overfitting via cross-fitting.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347472" cy="347472"/>
          </a:xfrm>
          <a:prstGeom prst="ellipse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62102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Neyman orthogonality: residualising both Y and T makes θ̂ robust to ML errors (second-order bias).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243554"/>
          </a:solidFill>
          <a:ln w="12700">
            <a:solidFill>
              <a:srgbClr val="2435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315968"/>
            <a:ext cx="64008" cy="658368"/>
          </a:xfrm>
          <a:prstGeom prst="rect">
            <a:avLst/>
          </a:prstGeom>
          <a:solidFill>
            <a:srgbClr val="E8A027"/>
          </a:solidFill>
          <a:ln w="12700">
            <a:solidFill>
              <a:srgbClr val="E8A0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159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7"/>
                </a:solidFill>
              </a:rPr>
              <a:t>Week 12 preview: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We'll implement DML in Python end-to-end, see how standard errors behave, and connect to the R-learner for heterogeneous treatment effects.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Appendix: formal proof sketch (optional — for advanced students)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A027"/>
                </a:solidFill>
              </a:rPr>
              <a:t>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The proof is a one-liner once you see the annihilator matrix.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7"/>
                </a:solidFill>
              </a:rPr>
              <a:t>The annihilator matrix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5727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M_X = I − X(X′X)⁻¹X′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M_X is idempotent:  M_X² = M_X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M_X X = 0  (annihilates X — any vector in col(X) maps to zero)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M_X is a projector onto the orthogonal complement of col(X)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2841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M_X Y = Ỹ   and   M_X T = T̃   (these are exactly the FWL residuals)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767328"/>
            <a:ext cx="8503920" cy="530352"/>
          </a:xfrm>
          <a:prstGeom prst="rect">
            <a:avLst/>
          </a:prstGeom>
          <a:solidFill>
            <a:srgbClr val="FDF3DC"/>
          </a:solidFill>
          <a:ln w="6350">
            <a:solidFill>
              <a:srgbClr val="E8A0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6732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Therefore: β̂_OLS  =  (T′M_X T)⁻¹ T′M_X Y  =  (T̃′T̃)⁻¹ T̃′Ỹ  =  β̂_FWL       QED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4407408"/>
            <a:ext cx="8503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462272"/>
            <a:ext cx="8503920" cy="777240"/>
          </a:xfrm>
          <a:prstGeom prst="rect">
            <a:avLst/>
          </a:prstGeom>
          <a:solidFill>
            <a:srgbClr val="FDECEA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6227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⚠️ CAN DROP: If your audience doesn't have linear algebra background, skip entirely. If they do, show only the last line — it takes 3 minutes and is very satisfying. The M_X properties can be an exercise. </a:t>
            </a:r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11: Frisch-Waugh-Lovell &amp; Double ML</dc:title>
  <dc:subject>PptxGenJS Presentation</dc:subject>
  <dc:creator>PptxGenJS</dc:creator>
  <cp:lastModifiedBy>PptxGenJS</cp:lastModifiedBy>
  <cp:revision>1</cp:revision>
  <dcterms:created xsi:type="dcterms:W3CDTF">2026-03-18T21:57:19Z</dcterms:created>
  <dcterms:modified xsi:type="dcterms:W3CDTF">2026-03-18T21:57:19Z</dcterms:modified>
</cp:coreProperties>
</file>